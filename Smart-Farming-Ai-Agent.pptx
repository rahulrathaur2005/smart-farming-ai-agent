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4"/>
  </p:notesMasterIdLst>
  <p:sldIdLst>
    <p:sldId id="256" r:id="rId5"/>
    <p:sldId id="2146847054" r:id="rId6"/>
    <p:sldId id="262" r:id="rId7"/>
    <p:sldId id="263" r:id="rId8"/>
    <p:sldId id="2146847058" r:id="rId9"/>
    <p:sldId id="265" r:id="rId10"/>
    <p:sldId id="2146847057" r:id="rId11"/>
    <p:sldId id="2146847066" r:id="rId12"/>
    <p:sldId id="2146847060" r:id="rId13"/>
    <p:sldId id="2146847067" r:id="rId14"/>
    <p:sldId id="2146847070" r:id="rId15"/>
    <p:sldId id="2146847068" r:id="rId16"/>
    <p:sldId id="2146847071" r:id="rId17"/>
    <p:sldId id="2146847062" r:id="rId18"/>
    <p:sldId id="2146847061" r:id="rId19"/>
    <p:sldId id="2146847055" r:id="rId20"/>
    <p:sldId id="2146847059" r:id="rId21"/>
    <p:sldId id="2146847069"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2522C5-0B34-8239-4EE4-793E8B6C05A9}" v="255" dt="2025-07-01T09:33:34.532"/>
    <p1510:client id="{D7F1B23C-5E68-AC61-D210-0912C84FE76E}" v="44" dt="2025-07-01T09:37:32.263"/>
    <p1510:client id="{D894958A-9A7A-283B-0ADF-D9632CD88E74}" v="14" dt="2025-07-01T10:57:40.2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467" autoAdjust="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04-08-2025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11</a:t>
            </a:fld>
            <a:endParaRPr lang="en-IN"/>
          </a:p>
        </p:txBody>
      </p:sp>
    </p:spTree>
    <p:extLst>
      <p:ext uri="{BB962C8B-B14F-4D97-AF65-F5344CB8AC3E}">
        <p14:creationId xmlns:p14="http://schemas.microsoft.com/office/powerpoint/2010/main" val="3170252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8/4/2025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8/4/2025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8/4/2025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8/4/2025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8/4/2025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8/4/2025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8/4/2025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8/4/2025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rahulrathaur2005/Smart-Farming-AI-Agent"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IN" dirty="0"/>
              <a:t>Smart Farming AI Agent </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IBM HACKATHON PROJECT</a:t>
            </a:r>
          </a:p>
        </p:txBody>
      </p:sp>
      <p:sp>
        <p:nvSpPr>
          <p:cNvPr id="4" name="TextBox 3"/>
          <p:cNvSpPr txBox="1"/>
          <p:nvPr/>
        </p:nvSpPr>
        <p:spPr>
          <a:xfrm>
            <a:off x="2457451" y="4357689"/>
            <a:ext cx="8640262"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  Rahul Rathaur</a:t>
            </a:r>
          </a:p>
          <a:p>
            <a:r>
              <a:rPr lang="en-US" sz="2000" b="1" dirty="0">
                <a:solidFill>
                  <a:schemeClr val="accent1">
                    <a:lumMod val="75000"/>
                  </a:schemeClr>
                </a:solidFill>
                <a:latin typeface="Arial" pitchFamily="34" charset="0"/>
                <a:cs typeface="Arial" pitchFamily="34" charset="0"/>
              </a:rPr>
              <a:t>Student name : Rahul Rathaur</a:t>
            </a:r>
          </a:p>
          <a:p>
            <a:r>
              <a:rPr lang="en-US" sz="2000" b="1" dirty="0">
                <a:solidFill>
                  <a:schemeClr val="accent1">
                    <a:lumMod val="75000"/>
                  </a:schemeClr>
                </a:solidFill>
                <a:latin typeface="Arial"/>
                <a:cs typeface="Arial"/>
              </a:rPr>
              <a:t>College Name &amp; Department : Nitra Technical Campus &amp; CSE</a:t>
            </a:r>
          </a:p>
          <a:p>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305435" indent="-305435"/>
            <a:r>
              <a:rPr lang="en-US" sz="2000" b="1" dirty="0">
                <a:latin typeface="Arial"/>
                <a:ea typeface="+mn-lt"/>
                <a:cs typeface="+mn-lt"/>
              </a:rPr>
              <a:t>IBM Certifications</a:t>
            </a: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385763" y="1232452"/>
            <a:ext cx="11496305" cy="5291756"/>
          </a:xfrm>
        </p:spPr>
        <p:txBody>
          <a:bodyPr>
            <a:normAutofit fontScale="92500"/>
          </a:bodyPr>
          <a:lstStyle/>
          <a:p>
            <a:pPr marL="0" indent="0">
              <a:buNone/>
            </a:pPr>
            <a:r>
              <a:rPr lang="en-US" sz="2800" dirty="0"/>
              <a:t>Farmers face challenges in making informed decisions on crop selection, pest control, irrigation scheduling, soil health, and market trends. Lack of timely and personalized agricultural advice often leads to reduced crop yields, increased costs, and financial instability, especially for small and marginal farmers.</a:t>
            </a:r>
          </a:p>
          <a:p>
            <a:pPr marL="0" indent="0">
              <a:buNone/>
            </a:pPr>
            <a:r>
              <a:rPr lang="en-US" sz="2800" b="1" dirty="0">
                <a:latin typeface="Calibri"/>
                <a:ea typeface="+mn-lt"/>
                <a:cs typeface="+mn-lt"/>
              </a:rPr>
              <a:t>Proposed Solution</a:t>
            </a:r>
            <a:r>
              <a:rPr lang="en-US" sz="2800" dirty="0">
                <a:latin typeface="Calibri"/>
                <a:ea typeface="+mn-lt"/>
                <a:cs typeface="+mn-lt"/>
              </a:rPr>
              <a:t>:</a:t>
            </a:r>
            <a:br>
              <a:rPr lang="en-US" sz="2800" dirty="0">
                <a:latin typeface="Calibri"/>
                <a:ea typeface="+mn-lt"/>
                <a:cs typeface="+mn-lt"/>
              </a:rPr>
            </a:br>
            <a:r>
              <a:rPr lang="en-US" sz="2800" dirty="0"/>
              <a:t>An AI Agent for Smart Farming Advice, powered by RAG (Retrieval-Augmented Generation), supports small-scale farmers by delivering real-time, localized agricultural guidance. It retrieves trusted data on weather forecasts, soil conditions, crop recommendations, pest control measures, and current market prices from agricultural departments, meteorological sources, and </a:t>
            </a:r>
            <a:r>
              <a:rPr lang="en-US" sz="2800" dirty="0" err="1"/>
              <a:t>agri</a:t>
            </a:r>
            <a:r>
              <a:rPr lang="en-US" sz="2800" dirty="0"/>
              <a:t> tech platforms.</a:t>
            </a:r>
            <a:br>
              <a:rPr lang="en-US" sz="2800" dirty="0">
                <a:latin typeface="Calibri"/>
                <a:ea typeface="Calibri"/>
                <a:cs typeface="Calibri"/>
              </a:rPr>
            </a:br>
            <a:endParaRPr lang="en-US" sz="1100" dirty="0">
              <a:solidFill>
                <a:srgbClr val="404040"/>
              </a:solidFill>
              <a:latin typeface="Calibri"/>
              <a:ea typeface="Calibri"/>
              <a:cs typeface="Calibri"/>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0" indent="0">
              <a:buNone/>
            </a:pPr>
            <a:r>
              <a:rPr lang="en-US" sz="2800" dirty="0">
                <a:solidFill>
                  <a:srgbClr val="000000"/>
                </a:solidFill>
                <a:latin typeface="Calibri"/>
                <a:ea typeface="Calibri"/>
                <a:cs typeface="Calibri"/>
              </a:rPr>
              <a:t>IBM cloud lite services</a:t>
            </a:r>
          </a:p>
          <a:p>
            <a:pPr marL="0" indent="0">
              <a:buNone/>
            </a:pPr>
            <a:r>
              <a:rPr lang="en-US" sz="2800" dirty="0">
                <a:solidFill>
                  <a:srgbClr val="000000"/>
                </a:solidFill>
                <a:latin typeface="Calibri"/>
                <a:ea typeface="Calibri"/>
                <a:cs typeface="Calibri"/>
              </a:rPr>
              <a:t>Natural Language Processing (NLP)</a:t>
            </a:r>
          </a:p>
          <a:p>
            <a:pPr marL="0" indent="0">
              <a:buNone/>
            </a:pPr>
            <a:r>
              <a:rPr lang="en-US" sz="2800" dirty="0">
                <a:solidFill>
                  <a:srgbClr val="000000"/>
                </a:solidFill>
                <a:latin typeface="Calibri"/>
                <a:ea typeface="Calibri"/>
                <a:cs typeface="Calibri"/>
              </a:rPr>
              <a:t>Retrieval Augmented Generation (RAG)</a:t>
            </a:r>
          </a:p>
          <a:p>
            <a:pPr marL="0" indent="0">
              <a:buNone/>
            </a:pPr>
            <a:r>
              <a:rPr lang="en-US" sz="2800" dirty="0">
                <a:solidFill>
                  <a:srgbClr val="000000"/>
                </a:solidFill>
                <a:latin typeface="Calibri"/>
                <a:ea typeface="Calibri"/>
                <a:cs typeface="Calibri"/>
              </a:rPr>
              <a:t>IBM Granite model</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80B2B-5B8A-2798-A127-FAFC2D527010}"/>
              </a:ext>
            </a:extLst>
          </p:cNvPr>
          <p:cNvSpPr>
            <a:spLocks noGrp="1"/>
          </p:cNvSpPr>
          <p:nvPr>
            <p:ph type="title"/>
          </p:nvPr>
        </p:nvSpPr>
        <p:spPr/>
        <p:txBody>
          <a:bodyPr/>
          <a:lstStyle/>
          <a:p>
            <a:r>
              <a:rPr lang="en-IN" dirty="0">
                <a:solidFill>
                  <a:schemeClr val="accent1"/>
                </a:solidFill>
              </a:rPr>
              <a:t>IBM cloud services used</a:t>
            </a:r>
          </a:p>
        </p:txBody>
      </p:sp>
      <p:sp>
        <p:nvSpPr>
          <p:cNvPr id="3" name="Content Placeholder 2">
            <a:extLst>
              <a:ext uri="{FF2B5EF4-FFF2-40B4-BE49-F238E27FC236}">
                <a16:creationId xmlns:a16="http://schemas.microsoft.com/office/drawing/2014/main" id="{40B9234A-56AB-47BB-E0BD-725AF6684B23}"/>
              </a:ext>
            </a:extLst>
          </p:cNvPr>
          <p:cNvSpPr>
            <a:spLocks noGrp="1"/>
          </p:cNvSpPr>
          <p:nvPr>
            <p:ph idx="1"/>
          </p:nvPr>
        </p:nvSpPr>
        <p:spPr/>
        <p:txBody>
          <a:bodyPr/>
          <a:lstStyle/>
          <a:p>
            <a:pPr marL="305435" indent="-305435"/>
            <a:r>
              <a:rPr lang="en-IN" dirty="0"/>
              <a:t>IBM Cloud Watsonx AI Studio</a:t>
            </a:r>
          </a:p>
          <a:p>
            <a:pPr marL="305435" indent="-305435"/>
            <a:r>
              <a:rPr lang="en-IN" dirty="0"/>
              <a:t>IBM Cloud </a:t>
            </a:r>
            <a:r>
              <a:rPr lang="en-IN" dirty="0" err="1"/>
              <a:t>Watsonx</a:t>
            </a:r>
            <a:r>
              <a:rPr lang="en-IN" dirty="0"/>
              <a:t> AI runtime</a:t>
            </a:r>
          </a:p>
          <a:p>
            <a:pPr marL="305435" indent="-305435"/>
            <a:r>
              <a:rPr lang="en-IN" dirty="0"/>
              <a:t>IBM Cloud Agent Lab</a:t>
            </a:r>
          </a:p>
          <a:p>
            <a:pPr marL="305435" indent="-305435"/>
            <a:r>
              <a:rPr lang="en-IN" dirty="0"/>
              <a:t>IBM Granite foundation model</a:t>
            </a:r>
          </a:p>
        </p:txBody>
      </p:sp>
    </p:spTree>
    <p:extLst>
      <p:ext uri="{BB962C8B-B14F-4D97-AF65-F5344CB8AC3E}">
        <p14:creationId xmlns:p14="http://schemas.microsoft.com/office/powerpoint/2010/main" val="1366800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3200" b="1" dirty="0">
                <a:solidFill>
                  <a:schemeClr val="accent1"/>
                </a:solidFill>
                <a:latin typeface="Arial"/>
                <a:ea typeface="+mj-lt"/>
                <a:cs typeface="Arial"/>
              </a:rPr>
              <a:t>Wow factors</a:t>
            </a:r>
            <a:endParaRPr lang="en-US" sz="32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81192" y="1143000"/>
            <a:ext cx="11029615" cy="5386387"/>
          </a:xfrm>
        </p:spPr>
        <p:txBody>
          <a:bodyPr>
            <a:normAutofit/>
          </a:bodyPr>
          <a:lstStyle/>
          <a:p>
            <a:pPr marL="0" indent="0">
              <a:buNone/>
            </a:pPr>
            <a:r>
              <a:rPr lang="en-US" sz="2000" dirty="0">
                <a:latin typeface="Calibri"/>
                <a:ea typeface="Calibri"/>
                <a:cs typeface="Calibri"/>
              </a:rPr>
              <a:t>Personalized Farming Advice: Offers location-specific and crop-specific recommendations tailored to individual farmer needs.</a:t>
            </a:r>
          </a:p>
          <a:p>
            <a:pPr marL="0" indent="0">
              <a:buNone/>
            </a:pPr>
            <a:r>
              <a:rPr lang="en-US" sz="2000" dirty="0">
                <a:latin typeface="Calibri"/>
                <a:ea typeface="Calibri"/>
                <a:cs typeface="Calibri"/>
              </a:rPr>
              <a:t>Real-Time Decision Support: Uses live data (weather, soil, and market trends) for instant, actionable insights.</a:t>
            </a:r>
          </a:p>
          <a:p>
            <a:pPr marL="0" indent="0">
              <a:buNone/>
            </a:pPr>
            <a:r>
              <a:rPr lang="en-US" sz="2000" dirty="0">
                <a:latin typeface="Calibri"/>
                <a:ea typeface="Calibri"/>
                <a:cs typeface="Calibri"/>
              </a:rPr>
              <a:t>Multi-Language Support: Communicates in local languages, making it accessible to farmers across diverse regions.</a:t>
            </a:r>
          </a:p>
          <a:p>
            <a:pPr marL="0" indent="0">
              <a:buNone/>
            </a:pPr>
            <a:r>
              <a:rPr lang="en-US" sz="2000" dirty="0">
                <a:latin typeface="Calibri"/>
                <a:ea typeface="Calibri"/>
                <a:cs typeface="Calibri"/>
              </a:rPr>
              <a:t>Pest &amp; Disease Early Detection: Identifies risks before they spread, saving crops and reducing pesticide costs.</a:t>
            </a:r>
          </a:p>
          <a:p>
            <a:pPr marL="0" indent="0">
              <a:buNone/>
            </a:pPr>
            <a:r>
              <a:rPr lang="en-US" sz="2000" dirty="0">
                <a:latin typeface="Calibri"/>
                <a:ea typeface="Calibri"/>
                <a:cs typeface="Calibri"/>
              </a:rPr>
              <a:t>Offline &amp; Rural Connectivity Ready: Works even in areas with limited internet </a:t>
            </a:r>
            <a:r>
              <a:rPr lang="en-US" sz="2000" dirty="0" err="1">
                <a:latin typeface="Calibri"/>
                <a:ea typeface="Calibri"/>
                <a:cs typeface="Calibri"/>
              </a:rPr>
              <a:t>connectivity.Sustainability</a:t>
            </a:r>
            <a:r>
              <a:rPr lang="en-US" sz="2000" dirty="0">
                <a:latin typeface="Calibri"/>
                <a:ea typeface="Calibri"/>
                <a:cs typeface="Calibri"/>
              </a:rPr>
              <a:t> Focus: Promotes optimized use of water, fertilizers, and pesticides, supporting eco-friendly farming.</a:t>
            </a:r>
          </a:p>
          <a:p>
            <a:pPr marL="0" indent="0">
              <a:buNone/>
            </a:pPr>
            <a:r>
              <a:rPr lang="en-US" sz="2000" dirty="0">
                <a:latin typeface="Calibri"/>
                <a:ea typeface="Calibri"/>
                <a:cs typeface="Calibri"/>
              </a:rPr>
              <a:t>Scalable &amp; Adaptable: Can be deployed for various crops and regions with minimal customization.</a:t>
            </a:r>
            <a:endParaRPr lang="en-IN" sz="2000" dirty="0">
              <a:latin typeface="Calibri"/>
              <a:ea typeface="Calibri"/>
              <a:cs typeface="Calibri"/>
            </a:endParaRPr>
          </a:p>
        </p:txBody>
      </p:sp>
    </p:spTree>
    <p:extLst>
      <p:ext uri="{BB962C8B-B14F-4D97-AF65-F5344CB8AC3E}">
        <p14:creationId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lstStyle/>
          <a:p>
            <a:r>
              <a:rPr lang="en-IN" dirty="0">
                <a:solidFill>
                  <a:schemeClr val="accent1"/>
                </a:solidFill>
              </a:rPr>
              <a:t>End users</a:t>
            </a:r>
          </a:p>
        </p:txBody>
      </p:sp>
      <p:sp>
        <p:nvSpPr>
          <p:cNvPr id="3" name="Content Placeholder 2">
            <a:extLst>
              <a:ext uri="{FF2B5EF4-FFF2-40B4-BE49-F238E27FC236}">
                <a16:creationId xmlns:a16="http://schemas.microsoft.com/office/drawing/2014/main" id="{AB679E23-F86A-AFA9-FE9C-7F5A518E8198}"/>
              </a:ext>
            </a:extLst>
          </p:cNvPr>
          <p:cNvSpPr>
            <a:spLocks noGrp="1"/>
          </p:cNvSpPr>
          <p:nvPr>
            <p:ph idx="1"/>
          </p:nvPr>
        </p:nvSpPr>
        <p:spPr/>
        <p:txBody>
          <a:bodyPr/>
          <a:lstStyle/>
          <a:p>
            <a:pPr marL="305435" indent="-305435"/>
            <a:r>
              <a:rPr lang="en-IN" sz="2800" dirty="0">
                <a:latin typeface="Calibri"/>
                <a:ea typeface="+mn-lt"/>
                <a:cs typeface="+mn-lt"/>
              </a:rPr>
              <a:t>Farmers</a:t>
            </a:r>
          </a:p>
          <a:p>
            <a:pPr marL="305435" indent="-305435"/>
            <a:r>
              <a:rPr lang="en-IN" sz="2800" dirty="0"/>
              <a:t>Farmer Cooperatives &amp; Associations</a:t>
            </a:r>
            <a:endParaRPr lang="en-IN" sz="2800" dirty="0">
              <a:latin typeface="Calibri"/>
              <a:ea typeface="Calibri"/>
              <a:cs typeface="Calibri"/>
            </a:endParaRPr>
          </a:p>
          <a:p>
            <a:pPr marL="305435" indent="-305435"/>
            <a:r>
              <a:rPr lang="en-IN" sz="2800" dirty="0"/>
              <a:t>Agri-Businesses &amp; Input Supplier</a:t>
            </a:r>
            <a:endParaRPr lang="en-IN" sz="2800" dirty="0">
              <a:latin typeface="Calibri"/>
              <a:ea typeface="+mn-lt"/>
              <a:cs typeface="+mn-lt"/>
            </a:endParaRPr>
          </a:p>
          <a:p>
            <a:pPr marL="305435" indent="-305435"/>
            <a:r>
              <a:rPr lang="en-IN" sz="2800" dirty="0"/>
              <a:t>Agricultural Extension Officers</a:t>
            </a:r>
            <a:endParaRPr lang="en-IN" sz="2800" dirty="0">
              <a:latin typeface="Calibri"/>
              <a:ea typeface="+mn-lt"/>
              <a:cs typeface="+mn-lt"/>
            </a:endParaRPr>
          </a:p>
        </p:txBody>
      </p:sp>
    </p:spTree>
    <p:extLst>
      <p:ext uri="{BB962C8B-B14F-4D97-AF65-F5344CB8AC3E}">
        <p14:creationId xmlns:p14="http://schemas.microsoft.com/office/powerpoint/2010/main" val="3819043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32F0A-9D83-B256-3E61-FD54AA26E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410C9-747C-0C4D-FAD7-77167E836569}"/>
              </a:ext>
            </a:extLst>
          </p:cNvPr>
          <p:cNvSpPr>
            <a:spLocks noGrp="1"/>
          </p:cNvSpPr>
          <p:nvPr>
            <p:ph type="title"/>
          </p:nvPr>
        </p:nvSpPr>
        <p:spPr/>
        <p:txBody>
          <a:bodyPr/>
          <a:lstStyle/>
          <a:p>
            <a:r>
              <a:rPr lang="en-IN" dirty="0">
                <a:solidFill>
                  <a:schemeClr val="accent1"/>
                </a:solidFill>
              </a:rPr>
              <a:t>Results</a:t>
            </a:r>
          </a:p>
        </p:txBody>
      </p:sp>
      <p:pic>
        <p:nvPicPr>
          <p:cNvPr id="4" name="Picture 3">
            <a:extLst>
              <a:ext uri="{FF2B5EF4-FFF2-40B4-BE49-F238E27FC236}">
                <a16:creationId xmlns:a16="http://schemas.microsoft.com/office/drawing/2014/main" id="{AA8DC00B-B718-4476-AF01-29E265107BA5}"/>
              </a:ext>
            </a:extLst>
          </p:cNvPr>
          <p:cNvPicPr>
            <a:picLocks noChangeAspect="1"/>
          </p:cNvPicPr>
          <p:nvPr/>
        </p:nvPicPr>
        <p:blipFill>
          <a:blip r:embed="rId2"/>
          <a:stretch>
            <a:fillRect/>
          </a:stretch>
        </p:blipFill>
        <p:spPr>
          <a:xfrm>
            <a:off x="581192" y="1232452"/>
            <a:ext cx="11029616" cy="5153600"/>
          </a:xfrm>
          <a:prstGeom prst="rect">
            <a:avLst/>
          </a:prstGeom>
        </p:spPr>
      </p:pic>
    </p:spTree>
    <p:extLst>
      <p:ext uri="{BB962C8B-B14F-4D97-AF65-F5344CB8AC3E}">
        <p14:creationId xmlns:p14="http://schemas.microsoft.com/office/powerpoint/2010/main" val="4068668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p:txBody>
          <a:bodyPr/>
          <a:lstStyle/>
          <a:p>
            <a:r>
              <a:rPr lang="en-IN" dirty="0">
                <a:solidFill>
                  <a:schemeClr val="accent1"/>
                </a:solidFill>
              </a:rPr>
              <a:t>Results</a:t>
            </a:r>
          </a:p>
        </p:txBody>
      </p:sp>
      <p:pic>
        <p:nvPicPr>
          <p:cNvPr id="8" name="Content Placeholder 7">
            <a:extLst>
              <a:ext uri="{FF2B5EF4-FFF2-40B4-BE49-F238E27FC236}">
                <a16:creationId xmlns:a16="http://schemas.microsoft.com/office/drawing/2014/main" id="{4A1724C3-B8C6-45EC-ADAF-FB374C95BE62}"/>
              </a:ext>
            </a:extLst>
          </p:cNvPr>
          <p:cNvPicPr>
            <a:picLocks noGrp="1" noChangeAspect="1"/>
          </p:cNvPicPr>
          <p:nvPr>
            <p:ph idx="1"/>
          </p:nvPr>
        </p:nvPicPr>
        <p:blipFill>
          <a:blip r:embed="rId2"/>
          <a:stretch>
            <a:fillRect/>
          </a:stretch>
        </p:blipFill>
        <p:spPr>
          <a:xfrm>
            <a:off x="5743254" y="702156"/>
            <a:ext cx="5277492" cy="5784369"/>
          </a:xfrm>
        </p:spPr>
      </p:pic>
    </p:spTree>
    <p:extLst>
      <p:ext uri="{BB962C8B-B14F-4D97-AF65-F5344CB8AC3E}">
        <p14:creationId xmlns:p14="http://schemas.microsoft.com/office/powerpoint/2010/main" val="2083715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5A6D-4F49-C4EA-7213-41FFE69BE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CC324-0A49-C60C-9095-B341C383FE0B}"/>
              </a:ext>
            </a:extLst>
          </p:cNvPr>
          <p:cNvSpPr>
            <a:spLocks noGrp="1"/>
          </p:cNvSpPr>
          <p:nvPr>
            <p:ph type="title"/>
          </p:nvPr>
        </p:nvSpPr>
        <p:spPr/>
        <p:txBody>
          <a:bodyPr/>
          <a:lstStyle/>
          <a:p>
            <a:r>
              <a:rPr lang="en-IN" dirty="0">
                <a:solidFill>
                  <a:schemeClr val="accent1"/>
                </a:solidFill>
              </a:rPr>
              <a:t>Results</a:t>
            </a:r>
          </a:p>
        </p:txBody>
      </p:sp>
      <p:pic>
        <p:nvPicPr>
          <p:cNvPr id="4" name="Picture 3" descr="A screenshot of a computer&#10;&#10;AI-generated content may be incorrect.">
            <a:extLst>
              <a:ext uri="{FF2B5EF4-FFF2-40B4-BE49-F238E27FC236}">
                <a16:creationId xmlns:a16="http://schemas.microsoft.com/office/drawing/2014/main" id="{58160D06-7AB9-E123-40C6-37292A37FD84}"/>
              </a:ext>
            </a:extLst>
          </p:cNvPr>
          <p:cNvPicPr>
            <a:picLocks noChangeAspect="1"/>
          </p:cNvPicPr>
          <p:nvPr/>
        </p:nvPicPr>
        <p:blipFill>
          <a:blip r:embed="rId2"/>
          <a:stretch>
            <a:fillRect/>
          </a:stretch>
        </p:blipFill>
        <p:spPr>
          <a:xfrm>
            <a:off x="5216513" y="618067"/>
            <a:ext cx="5861944" cy="5598157"/>
          </a:xfrm>
          <a:prstGeom prst="rect">
            <a:avLst/>
          </a:prstGeom>
        </p:spPr>
      </p:pic>
    </p:spTree>
    <p:extLst>
      <p:ext uri="{BB962C8B-B14F-4D97-AF65-F5344CB8AC3E}">
        <p14:creationId xmlns:p14="http://schemas.microsoft.com/office/powerpoint/2010/main" val="1189541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5292AC-DB54-4C23-93F0-95ED9E3E8BB9}"/>
              </a:ext>
            </a:extLst>
          </p:cNvPr>
          <p:cNvSpPr txBox="1"/>
          <p:nvPr/>
        </p:nvSpPr>
        <p:spPr>
          <a:xfrm>
            <a:off x="689373" y="744021"/>
            <a:ext cx="5225652" cy="646331"/>
          </a:xfrm>
          <a:prstGeom prst="rect">
            <a:avLst/>
          </a:prstGeom>
          <a:noFill/>
        </p:spPr>
        <p:txBody>
          <a:bodyPr wrap="square">
            <a:spAutoFit/>
          </a:bodyPr>
          <a:lstStyle/>
          <a:p>
            <a:r>
              <a:rPr lang="en-IN" sz="3600" b="1" dirty="0">
                <a:solidFill>
                  <a:schemeClr val="accent1"/>
                </a:solidFill>
              </a:rPr>
              <a:t>Results</a:t>
            </a:r>
            <a:endParaRPr lang="en-IN" sz="3600" b="1" dirty="0"/>
          </a:p>
        </p:txBody>
      </p:sp>
      <p:pic>
        <p:nvPicPr>
          <p:cNvPr id="7" name="Picture 6">
            <a:extLst>
              <a:ext uri="{FF2B5EF4-FFF2-40B4-BE49-F238E27FC236}">
                <a16:creationId xmlns:a16="http://schemas.microsoft.com/office/drawing/2014/main" id="{5798BFC2-5206-43CF-8D5A-5D7CAA589214}"/>
              </a:ext>
            </a:extLst>
          </p:cNvPr>
          <p:cNvPicPr>
            <a:picLocks noChangeAspect="1"/>
          </p:cNvPicPr>
          <p:nvPr/>
        </p:nvPicPr>
        <p:blipFill>
          <a:blip r:embed="rId3"/>
          <a:stretch>
            <a:fillRect/>
          </a:stretch>
        </p:blipFill>
        <p:spPr>
          <a:xfrm>
            <a:off x="708860" y="1519084"/>
            <a:ext cx="10774279" cy="4866968"/>
          </a:xfrm>
          <a:prstGeom prst="rect">
            <a:avLst/>
          </a:prstGeom>
        </p:spPr>
      </p:pic>
    </p:spTree>
    <p:extLst>
      <p:ext uri="{BB962C8B-B14F-4D97-AF65-F5344CB8AC3E}">
        <p14:creationId xmlns:p14="http://schemas.microsoft.com/office/powerpoint/2010/main" val="2717137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7C739-D0DA-9B09-3DAB-C16532FC6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7292C-C6FB-E951-D59F-66CDA53E9B18}"/>
              </a:ext>
            </a:extLst>
          </p:cNvPr>
          <p:cNvSpPr>
            <a:spLocks noGrp="1"/>
          </p:cNvSpPr>
          <p:nvPr>
            <p:ph type="title"/>
          </p:nvPr>
        </p:nvSpPr>
        <p:spPr/>
        <p:txBody>
          <a:bodyPr/>
          <a:lstStyle/>
          <a:p>
            <a:r>
              <a:rPr lang="en-IN" dirty="0">
                <a:solidFill>
                  <a:schemeClr val="accent1"/>
                </a:solidFill>
              </a:rPr>
              <a:t>Results</a:t>
            </a:r>
          </a:p>
        </p:txBody>
      </p:sp>
      <p:pic>
        <p:nvPicPr>
          <p:cNvPr id="6" name="Picture 5">
            <a:extLst>
              <a:ext uri="{FF2B5EF4-FFF2-40B4-BE49-F238E27FC236}">
                <a16:creationId xmlns:a16="http://schemas.microsoft.com/office/drawing/2014/main" id="{7C77DCB2-562F-4B48-A528-AB380C117F3E}"/>
              </a:ext>
            </a:extLst>
          </p:cNvPr>
          <p:cNvPicPr>
            <a:picLocks noChangeAspect="1"/>
          </p:cNvPicPr>
          <p:nvPr/>
        </p:nvPicPr>
        <p:blipFill>
          <a:blip r:embed="rId2"/>
          <a:stretch>
            <a:fillRect/>
          </a:stretch>
        </p:blipFill>
        <p:spPr>
          <a:xfrm>
            <a:off x="581192" y="1232452"/>
            <a:ext cx="11029615" cy="5239785"/>
          </a:xfrm>
          <a:prstGeom prst="rect">
            <a:avLst/>
          </a:prstGeom>
        </p:spPr>
      </p:pic>
    </p:spTree>
    <p:extLst>
      <p:ext uri="{BB962C8B-B14F-4D97-AF65-F5344CB8AC3E}">
        <p14:creationId xmlns:p14="http://schemas.microsoft.com/office/powerpoint/2010/main" val="1126302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6DAA1F-ED65-4666-975B-1D356454730E}"/>
              </a:ext>
            </a:extLst>
          </p:cNvPr>
          <p:cNvSpPr txBox="1"/>
          <p:nvPr/>
        </p:nvSpPr>
        <p:spPr>
          <a:xfrm>
            <a:off x="446485" y="672583"/>
            <a:ext cx="6093618" cy="646331"/>
          </a:xfrm>
          <a:prstGeom prst="rect">
            <a:avLst/>
          </a:prstGeom>
          <a:noFill/>
        </p:spPr>
        <p:txBody>
          <a:bodyPr wrap="square">
            <a:spAutoFit/>
          </a:bodyPr>
          <a:lstStyle/>
          <a:p>
            <a:r>
              <a:rPr lang="en-IN" sz="3600" b="1" dirty="0">
                <a:solidFill>
                  <a:schemeClr val="accent1"/>
                </a:solidFill>
              </a:rPr>
              <a:t>Results</a:t>
            </a:r>
            <a:endParaRPr lang="en-IN" sz="3600" b="1" dirty="0"/>
          </a:p>
        </p:txBody>
      </p:sp>
      <p:pic>
        <p:nvPicPr>
          <p:cNvPr id="4" name="Picture 3">
            <a:extLst>
              <a:ext uri="{FF2B5EF4-FFF2-40B4-BE49-F238E27FC236}">
                <a16:creationId xmlns:a16="http://schemas.microsoft.com/office/drawing/2014/main" id="{04686B75-223D-4891-A427-696EEB91626E}"/>
              </a:ext>
            </a:extLst>
          </p:cNvPr>
          <p:cNvPicPr>
            <a:picLocks noChangeAspect="1"/>
          </p:cNvPicPr>
          <p:nvPr/>
        </p:nvPicPr>
        <p:blipFill>
          <a:blip r:embed="rId2"/>
          <a:stretch>
            <a:fillRect/>
          </a:stretch>
        </p:blipFill>
        <p:spPr>
          <a:xfrm>
            <a:off x="604683" y="1318914"/>
            <a:ext cx="10717161" cy="4866503"/>
          </a:xfrm>
          <a:prstGeom prst="rect">
            <a:avLst/>
          </a:prstGeom>
        </p:spPr>
      </p:pic>
    </p:spTree>
    <p:extLst>
      <p:ext uri="{BB962C8B-B14F-4D97-AF65-F5344CB8AC3E}">
        <p14:creationId xmlns:p14="http://schemas.microsoft.com/office/powerpoint/2010/main" val="2950652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p:txBody>
          <a:bodyPr/>
          <a:lstStyle/>
          <a:p>
            <a:r>
              <a:rPr lang="en-IN" dirty="0">
                <a:solidFill>
                  <a:schemeClr val="accent1"/>
                </a:solidFill>
              </a:rPr>
              <a:t>Conclusion</a:t>
            </a:r>
          </a:p>
        </p:txBody>
      </p:sp>
      <p:sp>
        <p:nvSpPr>
          <p:cNvPr id="3" name="Content Placeholder 2">
            <a:extLst>
              <a:ext uri="{FF2B5EF4-FFF2-40B4-BE49-F238E27FC236}">
                <a16:creationId xmlns:a16="http://schemas.microsoft.com/office/drawing/2014/main" id="{D4974547-DF1B-77BB-E545-9344EDB9AD3F}"/>
              </a:ext>
            </a:extLst>
          </p:cNvPr>
          <p:cNvSpPr>
            <a:spLocks noGrp="1"/>
          </p:cNvSpPr>
          <p:nvPr>
            <p:ph idx="1"/>
          </p:nvPr>
        </p:nvSpPr>
        <p:spPr>
          <a:xfrm>
            <a:off x="581192" y="1302026"/>
            <a:ext cx="11029615" cy="4998762"/>
          </a:xfrm>
        </p:spPr>
        <p:txBody>
          <a:bodyPr/>
          <a:lstStyle/>
          <a:p>
            <a:pPr marL="305435" indent="-305435"/>
            <a:r>
              <a:rPr lang="en-US" sz="2400" dirty="0"/>
              <a:t>The AI agent helps farmers overcome the lack of timely and expert advice, ensuring informed decision-making in critical areas like crop selection, irrigation, and pest management.</a:t>
            </a:r>
            <a:endParaRPr lang="en-US" sz="2400" dirty="0">
              <a:solidFill>
                <a:srgbClr val="404040"/>
              </a:solidFill>
              <a:latin typeface="Calibri"/>
              <a:ea typeface="Calibri"/>
              <a:cs typeface="Calibri"/>
            </a:endParaRPr>
          </a:p>
          <a:p>
            <a:pPr marL="305435" indent="-305435"/>
            <a:r>
              <a:rPr lang="en-US" sz="2400" dirty="0"/>
              <a:t>By integrating weather, soil, and market data, the agent enables precise and personalized recommendations, shifting farming from experience-based to evidence-based practices.</a:t>
            </a:r>
            <a:endParaRPr lang="en-US" sz="2400" dirty="0">
              <a:solidFill>
                <a:srgbClr val="404040"/>
              </a:solidFill>
              <a:latin typeface="Calibri"/>
              <a:ea typeface="Calibri"/>
              <a:cs typeface="Calibri"/>
            </a:endParaRPr>
          </a:p>
          <a:p>
            <a:pPr marL="305435" indent="-305435"/>
            <a:r>
              <a:rPr lang="en-IN" sz="2800" dirty="0">
                <a:solidFill>
                  <a:srgbClr val="404040"/>
                </a:solidFill>
                <a:latin typeface="Calibri"/>
                <a:ea typeface="Calibri"/>
                <a:cs typeface="Calibri"/>
              </a:rPr>
              <a:t> </a:t>
            </a:r>
            <a:r>
              <a:rPr lang="en-US" sz="2400" dirty="0"/>
              <a:t>Accurate guidance leads to improved crop yields, optimized resource usage, and reduced input costs, positively impacting farmer income.</a:t>
            </a:r>
          </a:p>
          <a:p>
            <a:pPr marL="305435" indent="-305435"/>
            <a:r>
              <a:rPr lang="en-US" sz="2400" dirty="0"/>
              <a:t>Encourages eco-friendly practices through optimal fertilizer, pesticide, and water usage, promoting sustainable agriculture.</a:t>
            </a:r>
            <a:endParaRPr lang="en-US" sz="2400" dirty="0">
              <a:latin typeface="Calibri"/>
              <a:ea typeface="Calibri"/>
              <a:cs typeface="Calibri"/>
            </a:endParaRPr>
          </a:p>
        </p:txBody>
      </p:sp>
    </p:spTree>
    <p:extLst>
      <p:ext uri="{BB962C8B-B14F-4D97-AF65-F5344CB8AC3E}">
        <p14:creationId xmlns:p14="http://schemas.microsoft.com/office/powerpoint/2010/main" val="4233882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lstStyle/>
          <a:p>
            <a:r>
              <a:rPr lang="en-IN" dirty="0">
                <a:solidFill>
                  <a:schemeClr val="accent1"/>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p:txBody>
          <a:bodyPr/>
          <a:lstStyle/>
          <a:p>
            <a:r>
              <a:rPr lang="en-IN" dirty="0">
                <a:hlinkClick r:id="rId2"/>
              </a:rPr>
              <a:t>https://github.com/rahulrathaur2005/Smart-Farming-AI-Agent</a:t>
            </a:r>
            <a:endParaRPr lang="en-IN" dirty="0"/>
          </a:p>
        </p:txBody>
      </p:sp>
    </p:spTree>
    <p:extLst>
      <p:ext uri="{BB962C8B-B14F-4D97-AF65-F5344CB8AC3E}">
        <p14:creationId xmlns:p14="http://schemas.microsoft.com/office/powerpoint/2010/main" val="2230664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normAutofit/>
          </a:bodyPr>
          <a:lstStyle/>
          <a:p>
            <a:pPr marL="305435" indent="-305435"/>
            <a:r>
              <a:rPr lang="en-US" sz="2400" dirty="0">
                <a:latin typeface="Calibri"/>
                <a:ea typeface="+mn-lt"/>
                <a:cs typeface="+mn-lt"/>
              </a:rPr>
              <a:t>Multilingual support</a:t>
            </a:r>
          </a:p>
          <a:p>
            <a:pPr marL="305435" indent="-305435"/>
            <a:r>
              <a:rPr lang="en-IN" sz="2400" dirty="0"/>
              <a:t>Voice &amp; AR/VR Assistance</a:t>
            </a:r>
          </a:p>
          <a:p>
            <a:pPr marL="305435" indent="-305435"/>
            <a:r>
              <a:rPr lang="en-IN" sz="2400" dirty="0"/>
              <a:t>Integration with IoT &amp; Drones</a:t>
            </a:r>
          </a:p>
          <a:p>
            <a:pPr marL="305435" indent="-305435"/>
            <a:r>
              <a:rPr lang="en-IN" sz="2400" dirty="0"/>
              <a:t>Global Crop Advisory</a:t>
            </a:r>
          </a:p>
          <a:p>
            <a:pPr marL="305435" indent="-305435"/>
            <a:r>
              <a:rPr lang="en-IN" sz="2400" dirty="0"/>
              <a:t>Government &amp; Policy Integration</a:t>
            </a:r>
          </a:p>
          <a:p>
            <a:pPr marL="305435" indent="-305435"/>
            <a:r>
              <a:rPr lang="en-IN" sz="2400" dirty="0"/>
              <a:t>AI-Powered Marketplace</a:t>
            </a:r>
            <a:endParaRPr lang="en-US" sz="2400" dirty="0">
              <a:latin typeface="Calibri"/>
              <a:ea typeface="+mn-lt"/>
              <a:cs typeface="+mn-lt"/>
            </a:endParaRPr>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lstStyle/>
          <a:p>
            <a:r>
              <a:rPr lang="en-IN" dirty="0"/>
              <a:t>Screenshot/ </a:t>
            </a:r>
            <a:r>
              <a:rPr lang="en-IN" dirty="0" err="1"/>
              <a:t>credly</a:t>
            </a:r>
            <a:r>
              <a:rPr lang="en-IN" dirty="0"/>
              <a:t> certificate( getting started with AI)</a:t>
            </a:r>
          </a:p>
        </p:txBody>
      </p:sp>
      <p:pic>
        <p:nvPicPr>
          <p:cNvPr id="8" name="Picture 7">
            <a:extLst>
              <a:ext uri="{FF2B5EF4-FFF2-40B4-BE49-F238E27FC236}">
                <a16:creationId xmlns:a16="http://schemas.microsoft.com/office/drawing/2014/main" id="{24F360B6-F351-4FE7-B245-836CD388F0BE}"/>
              </a:ext>
            </a:extLst>
          </p:cNvPr>
          <p:cNvPicPr>
            <a:picLocks noChangeAspect="1"/>
          </p:cNvPicPr>
          <p:nvPr/>
        </p:nvPicPr>
        <p:blipFill>
          <a:blip r:embed="rId2"/>
          <a:stretch>
            <a:fillRect/>
          </a:stretch>
        </p:blipFill>
        <p:spPr>
          <a:xfrm>
            <a:off x="581192" y="1232452"/>
            <a:ext cx="7475311" cy="5590419"/>
          </a:xfrm>
          <a:prstGeom prst="rect">
            <a:avLst/>
          </a:prstGeom>
        </p:spPr>
      </p:pic>
    </p:spTree>
    <p:extLst>
      <p:ext uri="{BB962C8B-B14F-4D97-AF65-F5344CB8AC3E}">
        <p14:creationId xmlns:p14="http://schemas.microsoft.com/office/powerpoint/2010/main" val="384733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6967" y="3031897"/>
            <a:ext cx="3758401" cy="369332"/>
          </a:xfrm>
          <a:prstGeom prst="rect">
            <a:avLst/>
          </a:prstGeom>
        </p:spPr>
        <p:txBody>
          <a:bodyPr wrap="none">
            <a:spAutoFit/>
          </a:bodyPr>
          <a:lstStyle/>
          <a:p>
            <a:r>
              <a:rPr lang="en-IN" dirty="0"/>
              <a:t>Attach your  RAG LAB certificate here</a:t>
            </a:r>
          </a:p>
        </p:txBody>
      </p:sp>
      <p:pic>
        <p:nvPicPr>
          <p:cNvPr id="3" name="Picture 2">
            <a:extLst>
              <a:ext uri="{FF2B5EF4-FFF2-40B4-BE49-F238E27FC236}">
                <a16:creationId xmlns:a16="http://schemas.microsoft.com/office/drawing/2014/main" id="{D6D3E841-00A8-450E-B121-8E9E756C5C91}"/>
              </a:ext>
            </a:extLst>
          </p:cNvPr>
          <p:cNvPicPr>
            <a:picLocks noChangeAspect="1"/>
          </p:cNvPicPr>
          <p:nvPr/>
        </p:nvPicPr>
        <p:blipFill>
          <a:blip r:embed="rId2"/>
          <a:stretch>
            <a:fillRect/>
          </a:stretch>
        </p:blipFill>
        <p:spPr>
          <a:xfrm>
            <a:off x="416967" y="856343"/>
            <a:ext cx="8460565" cy="5747657"/>
          </a:xfrm>
          <a:prstGeom prst="rect">
            <a:avLst/>
          </a:prstGeom>
        </p:spPr>
      </p:pic>
    </p:spTree>
    <p:extLst>
      <p:ext uri="{BB962C8B-B14F-4D97-AF65-F5344CB8AC3E}">
        <p14:creationId xmlns:p14="http://schemas.microsoft.com/office/powerpoint/2010/main" val="1406661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289AE2-D2AE-49D1-AFAC-3A79F6794255}">
  <ds:schemaRefs>
    <ds:schemaRef ds:uri="http://www.w3.org/XML/1998/namespace"/>
    <ds:schemaRef ds:uri="http://purl.org/dc/dcmitype/"/>
    <ds:schemaRef ds:uri="http://purl.org/dc/terms/"/>
    <ds:schemaRef ds:uri="fadb41d3-f9cb-40fb-903c-8cacaba95bb5"/>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b30265f8-c5e2-4918-b4a1-b977299ca3e2"/>
    <ds:schemaRef ds:uri="http://schemas.microsoft.com/office/2006/metadata/properties"/>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113</TotalTime>
  <Words>505</Words>
  <Application>Microsoft Office PowerPoint</Application>
  <PresentationFormat>Widescreen</PresentationFormat>
  <Paragraphs>66</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Franklin Gothic Book</vt:lpstr>
      <vt:lpstr>Franklin Gothic Demi</vt:lpstr>
      <vt:lpstr>Wingdings 2</vt:lpstr>
      <vt:lpstr>DividendVTI</vt:lpstr>
      <vt:lpstr>Smart Farming AI Agent </vt:lpstr>
      <vt:lpstr>OUTLINE</vt:lpstr>
      <vt:lpstr>Problem Statement</vt:lpstr>
      <vt:lpstr>Technology  used</vt:lpstr>
      <vt:lpstr>IBM cloud services used</vt:lpstr>
      <vt:lpstr>Wow factors</vt:lpstr>
      <vt:lpstr>End users</vt:lpstr>
      <vt:lpstr>Results</vt:lpstr>
      <vt:lpstr>Results</vt:lpstr>
      <vt:lpstr>Results</vt:lpstr>
      <vt:lpstr>PowerPoint Presentation</vt:lpstr>
      <vt:lpstr>Results</vt:lpstr>
      <vt:lpstr>PowerPoint Presentation</vt:lpstr>
      <vt:lpstr>Conclusion</vt:lpstr>
      <vt:lpstr>GitHub Link</vt:lpstr>
      <vt:lpstr>PowerPoint Presentation</vt:lpstr>
      <vt:lpstr>IBM Certifications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Rahul Rathaur</cp:lastModifiedBy>
  <cp:revision>152</cp:revision>
  <dcterms:created xsi:type="dcterms:W3CDTF">2021-05-26T16:50:10Z</dcterms:created>
  <dcterms:modified xsi:type="dcterms:W3CDTF">2025-08-03T20:45:15Z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